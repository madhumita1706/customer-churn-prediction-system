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84" r:id="rId4"/>
    <p:sldId id="288" r:id="rId5"/>
    <p:sldId id="286" r:id="rId6"/>
    <p:sldId id="285" r:id="rId7"/>
    <p:sldId id="289" r:id="rId8"/>
    <p:sldId id="290" r:id="rId9"/>
    <p:sldId id="287" r:id="rId10"/>
    <p:sldId id="291" r:id="rId11"/>
    <p:sldId id="292" r:id="rId12"/>
    <p:sldId id="293" r:id="rId13"/>
    <p:sldId id="294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0000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BA12BF-2380-4890-A9DE-3097C2C62528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F91DE1-B03A-46EB-9479-29D63226EDFC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943FFAAB-55BD-4260-A4E4-7D8FCB28E61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1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614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614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90E773DE-2121-4534-891E-4D269B6198E4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2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819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819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3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946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4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946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5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946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6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946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E3EF39-E0CE-F34F-3E02-3C90B2F47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BAE897D9-E999-2235-7192-412E09B4F49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7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86585122-6301-B0FE-AAE0-31623723A3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91961896-5785-AE8C-0983-D27D6E7136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4891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56F2F6-80F2-0BD5-1F49-61B856D9F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67A220FA-C075-8159-06A8-F23E3BFA9A7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8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EA4AF786-2BCC-852D-05DC-BE2BFBC7F6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4FD3E40A-5934-D8A0-133C-F7B5A777B7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7921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9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946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85EFAD-2955-33C1-E865-DFB7BE9BB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96553B73-AF32-4543-5945-17F873FB1B7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10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A6A82E3F-3449-916C-D42C-15906A709D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79818C08-B0E3-45D6-EDC9-677D156FD9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0133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BDA0F6-6E71-3B4B-80D2-407FD8115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85BB1E82-2D37-3997-8103-8BC0F6ACCEB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11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2D1FEE18-B459-B248-1FE3-0CB32E761C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EB61650A-9F01-1728-BD35-647DF18CA2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4283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BD0817-9216-2B36-421B-75F6BC9C1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F19C67F1-47BF-D173-40EA-2ED2436896D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12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0CD13B95-BABF-5234-2959-ECD10DBE58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8F4B0A3B-02D8-39C5-57E2-A4FF6BB420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4276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D77BB6-4F3A-FF67-1E53-62D64A51B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C148054A-3D55-755C-EE31-10612293C68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7A5B735F-393F-43E2-80B7-0979301583B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13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D241E9FF-29B4-B7B3-23D6-13D07B4216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69A71DF2-67FC-E49F-33D3-9383658843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0934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5F561648-146D-47FD-B529-EC509853122C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14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3686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686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924AB-9F36-4178-90AC-C49D492A1C56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2/7/20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B1F0C1-FE4D-47C4-BFD4-577E77A4BE4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5924AB-9F36-4178-90AC-C49D492A1C56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6A3748-EDEB-4F86-8B3C-520549F7612D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Grp="1" noChangeArrowheads="1"/>
          </p:cNvSpPr>
          <p:nvPr>
            <p:ph type="subTitle" idx="4294967295"/>
          </p:nvPr>
        </p:nvSpPr>
        <p:spPr>
          <a:xfrm>
            <a:off x="3414566" y="3006952"/>
            <a:ext cx="5293333" cy="2276093"/>
          </a:xfrm>
          <a:solidFill>
            <a:srgbClr val="FFFFFF"/>
          </a:solidFill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by,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                : MADHUMITA SP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No.      : 8115U24AM033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 No.             : AM2433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                   : II AIML </a:t>
            </a:r>
            <a:endParaRPr lang="en-US" altLang="en-US" sz="1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dirty="0">
              <a:solidFill>
                <a:srgbClr val="8B8B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dirty="0">
              <a:solidFill>
                <a:srgbClr val="8B8B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dirty="0">
              <a:solidFill>
                <a:srgbClr val="8B8B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3" name="Rectangle 2"/>
          <p:cNvSpPr>
            <a:spLocks noChangeArrowheads="1"/>
          </p:cNvSpPr>
          <p:nvPr/>
        </p:nvSpPr>
        <p:spPr bwMode="auto">
          <a:xfrm>
            <a:off x="1679575" y="-1684338"/>
            <a:ext cx="3543300" cy="3514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pic>
        <p:nvPicPr>
          <p:cNvPr id="512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251" y="356884"/>
            <a:ext cx="1312323" cy="1300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</p:pic>
      <p:sp>
        <p:nvSpPr>
          <p:cNvPr id="5125" name="Rectangle 4"/>
          <p:cNvSpPr>
            <a:spLocks noChangeArrowheads="1"/>
          </p:cNvSpPr>
          <p:nvPr/>
        </p:nvSpPr>
        <p:spPr bwMode="auto">
          <a:xfrm>
            <a:off x="1515893" y="752984"/>
            <a:ext cx="8863520" cy="1999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square"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2800" b="1" dirty="0">
                <a:solidFill>
                  <a:srgbClr val="002060"/>
                </a:solidFill>
                <a:cs typeface="Arial" panose="020B0604020202020204" pitchFamily="34" charset="0"/>
              </a:rPr>
              <a:t>K.RAMAKRISHNAN COLLEGE OF ENGINEERING</a:t>
            </a:r>
          </a:p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b="1" dirty="0">
                <a:solidFill>
                  <a:srgbClr val="FF0066"/>
                </a:solidFill>
                <a:cs typeface="Arial" panose="020B0604020202020204" pitchFamily="34" charset="0"/>
              </a:rPr>
              <a:t>(AUTONOMOUS)</a:t>
            </a:r>
          </a:p>
          <a:p>
            <a:pPr algn="ctr">
              <a:buClr>
                <a:srgbClr val="000000"/>
              </a:buClr>
              <a:buSzPct val="100000"/>
            </a:pPr>
            <a:br>
              <a:rPr lang="en-US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PREDICTION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3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" name="Picture 2" descr="A blue and white logo&#10;&#10;Description automatically generated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8718" y="230748"/>
            <a:ext cx="1811291" cy="13095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-1368426" y="6272848"/>
            <a:ext cx="609600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 of Review : </a:t>
            </a: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08/05/2026</a:t>
            </a:r>
            <a:endParaRPr lang="en-US" altLang="en-US" sz="1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274638"/>
            <a:ext cx="8229600" cy="114300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OVERVIEW</a:t>
            </a:r>
          </a:p>
        </p:txBody>
      </p:sp>
      <p:sp>
        <p:nvSpPr>
          <p:cNvPr id="5123" name="Text Box 2"/>
          <p:cNvSpPr txBox="1">
            <a:spLocks noChangeArrowheads="1"/>
          </p:cNvSpPr>
          <p:nvPr/>
        </p:nvSpPr>
        <p:spPr bwMode="auto">
          <a:xfrm>
            <a:off x="599440" y="1401972"/>
            <a:ext cx="11037868" cy="495036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1630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 indent="-284480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458470" indent="-457200"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Introduction</a:t>
            </a:r>
          </a:p>
          <a:p>
            <a:pPr marL="458470" indent="-457200"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458470" indent="-457200"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8470" indent="-457200"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and Hardware Used</a:t>
            </a:r>
          </a:p>
          <a:p>
            <a:pPr marL="458470" indent="-457200"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and Proposed System</a:t>
            </a:r>
          </a:p>
          <a:p>
            <a:pPr marL="458470" indent="-457200"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Used</a:t>
            </a:r>
          </a:p>
          <a:p>
            <a:pPr marL="458470" indent="-457200"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  <a:p>
            <a:pPr marL="458470" indent="-457200"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Screenshots</a:t>
            </a:r>
          </a:p>
          <a:p>
            <a:pPr marL="458470" indent="-457200"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</a:p>
          <a:p>
            <a:pPr marL="458470" indent="-457200"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7172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188" y="350839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</p:pic>
      <p:pic>
        <p:nvPicPr>
          <p:cNvPr id="2" name="Picture 1" descr="A blue and white logo&#10;&#10;Description automatically generated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 noChangeArrowheads="1"/>
          </p:cNvSpPr>
          <p:nvPr/>
        </p:nvSpPr>
        <p:spPr bwMode="auto">
          <a:xfrm>
            <a:off x="2116029" y="474394"/>
            <a:ext cx="6934200" cy="521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</a:pPr>
            <a:r>
              <a:rPr lang="en-US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Introduction</a:t>
            </a:r>
          </a:p>
        </p:txBody>
      </p:sp>
      <p:pic>
        <p:nvPicPr>
          <p:cNvPr id="1843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</p:pic>
      <p:pic>
        <p:nvPicPr>
          <p:cNvPr id="2" name="Picture 1" descr="A blue and white logo&#10;&#10;Description automatically generated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579120" y="1460804"/>
            <a:ext cx="11392730" cy="505175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1630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 indent="-284480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34417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Customer Churn Prediction System is a machine learning-based web application developed using Python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predict whether a customer is likely to leave a business or continue using its services. Customer churn prediction helps organizations identify customers at risk and take preventive measures to improve customer retention.</a:t>
            </a:r>
          </a:p>
          <a:p>
            <a:pPr marL="34417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uses various machine learning algorithms such as Logistic Regression, Decision Tree, Random Forest, K-Nearest Neighbors (KNN), and Support Vector Machine (SVM) to analyze customer-related data and predict churn behavior. </a:t>
            </a:r>
          </a:p>
          <a:p>
            <a:pPr marL="34417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useful for businesses such as telecom companies, e-commerce platforms, banks, insurance companies, and subscription-based services.</a:t>
            </a:r>
          </a:p>
          <a:p>
            <a:pPr marL="1270" indent="0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 noChangeArrowheads="1"/>
          </p:cNvSpPr>
          <p:nvPr/>
        </p:nvSpPr>
        <p:spPr bwMode="auto">
          <a:xfrm>
            <a:off x="2528668" y="769034"/>
            <a:ext cx="6934200" cy="552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en-US" sz="30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pic>
        <p:nvPicPr>
          <p:cNvPr id="1843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</p:pic>
      <p:pic>
        <p:nvPicPr>
          <p:cNvPr id="2" name="Picture 1" descr="A blue and white logo&#10;&#10;Description automatically generated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488004" y="1615440"/>
            <a:ext cx="11483845" cy="485648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1630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 indent="-284480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objectives of the Customer Churn Prediction System are:</a:t>
            </a:r>
          </a:p>
          <a:p>
            <a:pPr marL="34417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predict customer churn using machine learning techniques. </a:t>
            </a:r>
          </a:p>
          <a:p>
            <a:pPr marL="34417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customer behavior patterns. </a:t>
            </a:r>
          </a:p>
          <a:p>
            <a:pPr marL="34417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different machine learning algorithms. </a:t>
            </a:r>
          </a:p>
          <a:p>
            <a:pPr marL="34417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customer retention strategies. </a:t>
            </a:r>
          </a:p>
          <a:p>
            <a:pPr marL="34417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an easy-to-use web interface using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417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manual analysis and improve prediction accuracy. </a:t>
            </a:r>
          </a:p>
          <a:p>
            <a:pPr marL="34417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prediction reports for business analysis.</a:t>
            </a:r>
          </a:p>
          <a:p>
            <a:pPr marL="1270" indent="0"/>
            <a:endParaRPr lang="en-US" sz="2400" dirty="0"/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 noChangeArrowheads="1"/>
          </p:cNvSpPr>
          <p:nvPr/>
        </p:nvSpPr>
        <p:spPr bwMode="auto">
          <a:xfrm>
            <a:off x="2628900" y="521931"/>
            <a:ext cx="6934200" cy="521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r>
              <a:rPr lang="en-US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P</a:t>
            </a:r>
            <a:r>
              <a:rPr lang="en-IN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ROBLEM STATEMENT</a:t>
            </a:r>
          </a:p>
        </p:txBody>
      </p:sp>
      <p:pic>
        <p:nvPicPr>
          <p:cNvPr id="1843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</p:pic>
      <p:sp>
        <p:nvSpPr>
          <p:cNvPr id="18437" name="Rectangle 6"/>
          <p:cNvSpPr>
            <a:spLocks noChangeArrowheads="1"/>
          </p:cNvSpPr>
          <p:nvPr/>
        </p:nvSpPr>
        <p:spPr bwMode="auto">
          <a:xfrm>
            <a:off x="1809750" y="2000250"/>
            <a:ext cx="77866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en-US"/>
              <a:t>.</a:t>
            </a:r>
            <a:endParaRPr lang="en-IN" altLang="en-US"/>
          </a:p>
        </p:txBody>
      </p:sp>
      <p:pic>
        <p:nvPicPr>
          <p:cNvPr id="2" name="Picture 1" descr="A blue and white logo&#10;&#10;Description automatically generated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488005" y="1189864"/>
            <a:ext cx="11483845" cy="514620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1630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 indent="-284480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Many companies face customer loss due to poor customer engagement, low satisfaction,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lack of retention strategies. Traditional methods of identifying churn customers are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time-consuming and less accurate.</a:t>
            </a:r>
          </a:p>
          <a:p>
            <a:pPr marL="34417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 need an automated system that can:</a:t>
            </a:r>
          </a:p>
          <a:p>
            <a:pPr marL="34417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customer data efficiently. </a:t>
            </a:r>
          </a:p>
          <a:p>
            <a:pPr marL="34417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customer churn accurately. </a:t>
            </a:r>
          </a:p>
          <a:p>
            <a:pPr marL="34417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high-risk customers. </a:t>
            </a:r>
          </a:p>
          <a:p>
            <a:pPr marL="34417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management take preventive actions.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 Customer Churn Prediction System is developed to automate customer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analysis using machine learning algorithms and provide accurate prediction results.</a:t>
            </a:r>
          </a:p>
          <a:p>
            <a:pPr marL="1270" indent="0" algn="just" eaLnBrk="1">
              <a:lnSpc>
                <a:spcPct val="150000"/>
              </a:lnSpc>
              <a:spcBef>
                <a:spcPts val="325"/>
              </a:spcBef>
              <a:buClr>
                <a:srgbClr val="000000"/>
              </a:buClr>
              <a:buSzPct val="100000"/>
              <a:defRPr/>
            </a:pPr>
            <a:endParaRPr lang="en-US" altLang="en-US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 noChangeArrowheads="1"/>
          </p:cNvSpPr>
          <p:nvPr/>
        </p:nvSpPr>
        <p:spPr bwMode="auto">
          <a:xfrm>
            <a:off x="2528668" y="769034"/>
            <a:ext cx="6934200" cy="521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</a:pPr>
            <a:r>
              <a:rPr lang="en-IN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AND HARDWARE USED </a:t>
            </a:r>
          </a:p>
        </p:txBody>
      </p:sp>
      <p:pic>
        <p:nvPicPr>
          <p:cNvPr id="1843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</p:pic>
      <p:sp>
        <p:nvSpPr>
          <p:cNvPr id="18437" name="Rectangle 6"/>
          <p:cNvSpPr>
            <a:spLocks noChangeArrowheads="1"/>
          </p:cNvSpPr>
          <p:nvPr/>
        </p:nvSpPr>
        <p:spPr bwMode="auto">
          <a:xfrm>
            <a:off x="1809750" y="2000250"/>
            <a:ext cx="77866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en-US"/>
              <a:t>.</a:t>
            </a:r>
            <a:endParaRPr lang="en-IN" altLang="en-US"/>
          </a:p>
        </p:txBody>
      </p:sp>
      <p:pic>
        <p:nvPicPr>
          <p:cNvPr id="2" name="Picture 1" descr="A blue and white logo&#10;&#10;Description automatically generated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517313" y="1401972"/>
            <a:ext cx="11409355" cy="514268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1630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 indent="-284480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115570" lvl="1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</a:p>
          <a:p>
            <a:pPr marL="45847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47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Framework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47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–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</a:t>
            </a:r>
          </a:p>
          <a:p>
            <a:pPr marL="45847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&amp; NumPy 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47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Dataset 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47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 learn 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5570" lvl="1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</a:p>
          <a:p>
            <a:pPr marL="45847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</a:t>
            </a:r>
          </a:p>
          <a:p>
            <a:pPr marL="45847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</a:p>
          <a:p>
            <a:pPr marL="45847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</a:t>
            </a:r>
          </a:p>
          <a:p>
            <a:pPr marL="45847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42F6B-8208-FEAC-E74F-8C196A88D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982FEDF7-4280-79E0-1000-3C2B9A9EB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8668" y="769034"/>
            <a:ext cx="6934200" cy="521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</a:pPr>
            <a:r>
              <a:rPr lang="en-IN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AND PROPOSED SYSTEM </a:t>
            </a:r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F36806E0-AD7E-337C-C153-1E356995D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</p:pic>
      <p:sp>
        <p:nvSpPr>
          <p:cNvPr id="18437" name="Rectangle 6">
            <a:extLst>
              <a:ext uri="{FF2B5EF4-FFF2-40B4-BE49-F238E27FC236}">
                <a16:creationId xmlns:a16="http://schemas.microsoft.com/office/drawing/2014/main" id="{066B6532-96C7-2AB9-0F51-32BD40ADD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0" y="2000250"/>
            <a:ext cx="77866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en-US"/>
              <a:t>.</a:t>
            </a:r>
            <a:endParaRPr lang="en-IN" altLang="en-US"/>
          </a:p>
        </p:txBody>
      </p:sp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BF3DFB6E-19D4-EE41-D3BC-8CA171352D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39C2D796-0CC2-9929-3CB2-2615CDA10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313" y="1401972"/>
            <a:ext cx="11409355" cy="514268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1630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 indent="-284480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115570" lvl="1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System:</a:t>
            </a:r>
          </a:p>
          <a:p>
            <a:pPr marL="17399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customer analysis systems mainly depend on manual reporting and historical observation.</a:t>
            </a:r>
          </a:p>
          <a:p>
            <a:pPr marL="0" lvl="1" indent="0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System: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machine learning algorithms to predict customer churn automatically using customer data.</a:t>
            </a:r>
            <a:r>
              <a:rPr lang="en-US" sz="2400" dirty="0"/>
              <a:t> 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and accurate churn prediction. 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machine learning model comparison.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lnSpc>
                <a:spcPct val="150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519147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FD04B-74AF-D3F1-63F0-B3A03CDAA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A11BCCAC-F328-B407-BD44-5F6F3DF72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5788" y="473095"/>
            <a:ext cx="6934200" cy="521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</a:pPr>
            <a:r>
              <a:rPr lang="en-IN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Used </a:t>
            </a:r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4B4E76F6-313E-D0DE-158A-D40B014F9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</p:pic>
      <p:sp>
        <p:nvSpPr>
          <p:cNvPr id="18437" name="Rectangle 6">
            <a:extLst>
              <a:ext uri="{FF2B5EF4-FFF2-40B4-BE49-F238E27FC236}">
                <a16:creationId xmlns:a16="http://schemas.microsoft.com/office/drawing/2014/main" id="{78F1926A-7897-751C-8866-1EE548205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0" y="2000250"/>
            <a:ext cx="77866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en-US"/>
              <a:t>.</a:t>
            </a:r>
            <a:endParaRPr lang="en-IN" altLang="en-US"/>
          </a:p>
        </p:txBody>
      </p:sp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74C50C2C-8F03-3F29-4C39-94287BCC2C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64FDA2FC-4114-B1BE-A6A8-F9D78A578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005" y="1158132"/>
            <a:ext cx="11409355" cy="514268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1630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 indent="-284480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Generation Module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Upload Module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 Module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Splitting Module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Module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Module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Module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Module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 Module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Report Module</a:t>
            </a:r>
          </a:p>
          <a:p>
            <a:pPr marL="0" lvl="1" indent="0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lnSpc>
                <a:spcPct val="150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322090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 noChangeArrowheads="1"/>
          </p:cNvSpPr>
          <p:nvPr/>
        </p:nvSpPr>
        <p:spPr bwMode="auto">
          <a:xfrm>
            <a:off x="2779922" y="595014"/>
            <a:ext cx="6934200" cy="552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/>
            <a:r>
              <a:rPr lang="en-IN" sz="30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1843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</p:pic>
      <p:sp>
        <p:nvSpPr>
          <p:cNvPr id="18437" name="Rectangle 6"/>
          <p:cNvSpPr>
            <a:spLocks noChangeArrowheads="1"/>
          </p:cNvSpPr>
          <p:nvPr/>
        </p:nvSpPr>
        <p:spPr bwMode="auto">
          <a:xfrm>
            <a:off x="1809750" y="2000250"/>
            <a:ext cx="77866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en-US"/>
              <a:t>.</a:t>
            </a:r>
            <a:endParaRPr lang="en-IN" altLang="en-US"/>
          </a:p>
        </p:txBody>
      </p:sp>
      <p:pic>
        <p:nvPicPr>
          <p:cNvPr id="2" name="Picture 1" descr="A blue and white logo&#10;&#10;Description automatically generated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461937" y="2880685"/>
            <a:ext cx="5570170" cy="268117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1630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 indent="-284480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1270" indent="0"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7AA7DD-F46D-DAF0-54C4-A15B42AE95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005" y="1687829"/>
            <a:ext cx="11327032" cy="4401137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E18C0-B67A-B79C-1DE3-771CCCA9B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C26BD699-7DF8-8792-4E65-CD337CF29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5788" y="473095"/>
            <a:ext cx="6934200" cy="521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</a:pPr>
            <a:r>
              <a:rPr lang="en-IN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E21EF5E6-BCA1-95C4-590C-06E03BAFC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</p:pic>
      <p:sp>
        <p:nvSpPr>
          <p:cNvPr id="18437" name="Rectangle 6">
            <a:extLst>
              <a:ext uri="{FF2B5EF4-FFF2-40B4-BE49-F238E27FC236}">
                <a16:creationId xmlns:a16="http://schemas.microsoft.com/office/drawing/2014/main" id="{3164BA39-B60B-528E-0DD5-60386BFFA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0" y="2000250"/>
            <a:ext cx="77866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en-US"/>
              <a:t>.</a:t>
            </a:r>
            <a:endParaRPr lang="en-IN" altLang="en-US"/>
          </a:p>
        </p:txBody>
      </p:sp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6B12FAA4-8D83-CC09-187F-F5ADEAA7E6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C0DDFCA7-D783-C6B2-0F0F-AB5DED56BE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005" y="1158132"/>
            <a:ext cx="11409355" cy="514268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1630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 indent="-284480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0" lvl="1" indent="0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lnSpc>
                <a:spcPct val="150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65D76E-281D-50EE-7483-1D8460BE9C3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881" y="1437844"/>
            <a:ext cx="5239860" cy="28425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55503A-38CB-67FD-9577-5FE046BC08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490" y="1565243"/>
            <a:ext cx="3939600" cy="362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779323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267A2-3F6F-336E-9F3E-AB12655DC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D19A611D-59AD-CEEA-D262-472A8D218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5788" y="473095"/>
            <a:ext cx="6934200" cy="521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</a:pPr>
            <a:r>
              <a:rPr lang="en-IN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AFE043AD-2237-E0D2-E879-4B04CF551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</p:pic>
      <p:sp>
        <p:nvSpPr>
          <p:cNvPr id="18437" name="Rectangle 6">
            <a:extLst>
              <a:ext uri="{FF2B5EF4-FFF2-40B4-BE49-F238E27FC236}">
                <a16:creationId xmlns:a16="http://schemas.microsoft.com/office/drawing/2014/main" id="{F34C0E03-B5E5-D937-8C1B-BD7ADF7A5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0" y="2000250"/>
            <a:ext cx="77866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en-US"/>
              <a:t>.</a:t>
            </a:r>
            <a:endParaRPr lang="en-IN" altLang="en-US"/>
          </a:p>
        </p:txBody>
      </p:sp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5812885C-4082-F474-8721-62BBEB69E5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4CB0848E-F9B0-7F06-D1C1-A2092FDC1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005" y="1158132"/>
            <a:ext cx="11409355" cy="514268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1630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 indent="-284480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0" lvl="1" indent="0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lnSpc>
                <a:spcPct val="150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E67F5C-557E-D49A-3E13-640D3EC725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40" y="1565243"/>
            <a:ext cx="10425193" cy="4551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004321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BD0DA-DBA3-DB39-3951-A23E6AE4C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8BB305A7-BB20-560C-C59D-2FBCB947B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5788" y="473095"/>
            <a:ext cx="6934200" cy="521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</a:pPr>
            <a:r>
              <a:rPr lang="en-IN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 </a:t>
            </a:r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0E34206E-1007-EA1E-6A8C-59223128DE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</p:pic>
      <p:sp>
        <p:nvSpPr>
          <p:cNvPr id="18437" name="Rectangle 6">
            <a:extLst>
              <a:ext uri="{FF2B5EF4-FFF2-40B4-BE49-F238E27FC236}">
                <a16:creationId xmlns:a16="http://schemas.microsoft.com/office/drawing/2014/main" id="{7E0025A8-1E6C-A34A-6074-8D53F6144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0" y="2000250"/>
            <a:ext cx="77866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en-US"/>
              <a:t>.</a:t>
            </a:r>
            <a:endParaRPr lang="en-IN" altLang="en-US"/>
          </a:p>
        </p:txBody>
      </p:sp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C5B82667-07C2-269D-98CC-28B4A0F121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A99B9C77-967E-3E2B-C607-88128F086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005" y="1158132"/>
            <a:ext cx="11409355" cy="550207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1630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 indent="-284480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marL="0" lvl="1" indent="0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Customer Churn Prediction System successfully predicts customer churn using machine learning algorithms. The system automates customer behavior analysis and helps organizations identify customers likely to leave.</a:t>
            </a:r>
          </a:p>
          <a:p>
            <a:pPr marL="0" lvl="1" indent="0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 customer churn alerts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on cloud platforms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support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dashboards and analytics</a:t>
            </a:r>
          </a:p>
          <a:p>
            <a:pPr marL="0" lvl="1" indent="0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lnSpc>
                <a:spcPct val="150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163401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19ECF-2819-1CD2-108F-E490616B6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7DA63A50-DDE8-C968-DDE5-7FDE65134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5788" y="473095"/>
            <a:ext cx="6934200" cy="521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0000" tIns="45000" rIns="90000" bIns="45000">
            <a:spAutoFit/>
          </a:bodyPr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</a:pPr>
            <a:r>
              <a:rPr lang="en-IN" sz="28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A304F14A-736E-A6C8-2002-7122ED996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</p:pic>
      <p:sp>
        <p:nvSpPr>
          <p:cNvPr id="18437" name="Rectangle 6">
            <a:extLst>
              <a:ext uri="{FF2B5EF4-FFF2-40B4-BE49-F238E27FC236}">
                <a16:creationId xmlns:a16="http://schemas.microsoft.com/office/drawing/2014/main" id="{BE57F68D-1DFD-7150-FC34-194C9CB47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0" y="2000250"/>
            <a:ext cx="77866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en-US"/>
              <a:t>.</a:t>
            </a:r>
            <a:endParaRPr lang="en-IN" altLang="en-US"/>
          </a:p>
        </p:txBody>
      </p:sp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7F0BDB74-12A4-4916-6564-180BA2B751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B3BBE174-FE3D-14B7-A691-66DE93F91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495" y="1777892"/>
            <a:ext cx="11409355" cy="550207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1630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 indent="-284480"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 eaLnBrk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pPr lvl="1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Official Documentation</a:t>
            </a:r>
          </a:p>
          <a:p>
            <a:pPr lvl="1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</a:t>
            </a:r>
          </a:p>
          <a:p>
            <a:pPr lvl="1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Documentation</a:t>
            </a:r>
          </a:p>
          <a:p>
            <a:pPr lvl="1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Documentation</a:t>
            </a:r>
          </a:p>
          <a:p>
            <a:pPr lvl="1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Research Papers</a:t>
            </a:r>
          </a:p>
          <a:p>
            <a:pPr lvl="1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Customer Churn Datasets</a:t>
            </a:r>
          </a:p>
          <a:p>
            <a:pPr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Tutorials and Technical Articles</a:t>
            </a:r>
          </a:p>
          <a:p>
            <a:pPr marL="0" lvl="1" indent="0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lnSpc>
                <a:spcPct val="150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176069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eaching Teenagers about Thank You Notes | Pleasant Hill, CA Patc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5138" y="1342571"/>
            <a:ext cx="5561724" cy="4172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570</Words>
  <Application>Microsoft Office PowerPoint</Application>
  <PresentationFormat>Widescreen</PresentationFormat>
  <Paragraphs>124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PRESENTATION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Matheswaran P</dc:creator>
  <cp:lastModifiedBy>Dharshini</cp:lastModifiedBy>
  <cp:revision>26</cp:revision>
  <dcterms:created xsi:type="dcterms:W3CDTF">2023-12-21T13:31:00Z</dcterms:created>
  <dcterms:modified xsi:type="dcterms:W3CDTF">2026-05-07T15:51:56Z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D7B758B996DC47BBB955F007B898E339_13</vt:lpwstr>
  </property>
  <property fmtid="{D5CDD505-2E9C-101B-9397-08002B2CF9AE}" pid="3" name="KSOProductBuildVer">
    <vt:lpwstr>1033-12.2.0.23196</vt:lpwstr>
  </property>
</Properties>
</file>